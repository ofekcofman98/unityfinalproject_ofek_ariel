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9" r:id="rId9"/>
    <p:sldId id="262" r:id="rId10"/>
    <p:sldId id="268" r:id="rId11"/>
    <p:sldId id="263" r:id="rId12"/>
    <p:sldId id="270" r:id="rId13"/>
  </p:sldIdLst>
  <p:sldSz cx="14630400" cy="8229600"/>
  <p:notesSz cx="8229600" cy="14630400"/>
  <p:embeddedFontLst>
    <p:embeddedFont>
      <p:font typeface="Crimson Pro Semi Bold" panose="020B0604020202020204" charset="0"/>
      <p:regular r:id="rId15"/>
    </p:embeddedFont>
    <p:embeddedFont>
      <p:font typeface="Heebo" pitchFamily="2" charset="-79"/>
      <p:regular r:id="rId16"/>
      <p:bold r:id="rId17"/>
    </p:embeddedFont>
    <p:embeddedFont>
      <p:font typeface="Heebo Bold" pitchFamily="2" charset="-79"/>
      <p:bold r:id="rId18"/>
    </p:embeddedFont>
  </p:embeddedFontLst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98" y="-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705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02C9B-95B9-E7E4-79D5-E8B8FB33A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4F94C-DF22-4363-2188-1032F8D97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B2F5AF-29EA-8B65-3A01-184F0A206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78F0E-00C0-B12C-F082-7E181A7A11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45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09EC6-3F80-73F0-FDD4-402BCEA8F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7E3D7E-3A57-92CE-1401-97ACB9B0D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5CAD7-04E6-17E7-38A2-128D4B093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100B6-B8BF-7FA0-3E31-029D540B02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31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72843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SQL Detective Game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Learn Through Play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80190" y="5121116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3"/>
          <p:cNvSpPr/>
          <p:nvPr/>
        </p:nvSpPr>
        <p:spPr>
          <a:xfrm>
            <a:off x="6280190" y="5121116"/>
            <a:ext cx="3764947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Ofek Cofman &amp; Ariel Vaknin</a:t>
            </a:r>
            <a:endParaRPr lang="en-US" sz="2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DD3E31-3F26-C9C0-00B1-C91F82DD10B0}"/>
              </a:ext>
            </a:extLst>
          </p:cNvPr>
          <p:cNvSpPr>
            <a:spLocks/>
          </p:cNvSpPr>
          <p:nvPr/>
        </p:nvSpPr>
        <p:spPr>
          <a:xfrm>
            <a:off x="12847899" y="7720314"/>
            <a:ext cx="1782501" cy="509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0" name="Picture 9" descr="A logo of a detective&#10;&#10;AI-generated content may be incorrect.">
            <a:extLst>
              <a:ext uri="{FF2B5EF4-FFF2-40B4-BE49-F238E27FC236}">
                <a16:creationId xmlns:a16="http://schemas.microsoft.com/office/drawing/2014/main" id="{D5A7B8CE-1043-EEC3-F8BC-624FE6118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692" y="1978305"/>
            <a:ext cx="3764947" cy="37649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60116" y="21682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Game Concept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4451390" y="32998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460" y="3342322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88506" y="3377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Immersive Learning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188506" y="3868103"/>
            <a:ext cx="38138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3D environment where players solve crimes using SQL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9285803" y="32998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874" y="3342322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22919" y="3377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Progressive Difficulty</a:t>
            </a:r>
            <a:endParaRPr lang="en-US" sz="2800" dirty="0"/>
          </a:p>
        </p:txBody>
      </p:sp>
      <p:sp>
        <p:nvSpPr>
          <p:cNvPr id="11" name="Text 6"/>
          <p:cNvSpPr/>
          <p:nvPr/>
        </p:nvSpPr>
        <p:spPr>
          <a:xfrm>
            <a:off x="10022919" y="3868103"/>
            <a:ext cx="38138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Schema expands as players advance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4451390" y="504753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460" y="5090041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88506" y="5125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Cross-Platform</a:t>
            </a:r>
            <a:endParaRPr lang="en-US" sz="2800" dirty="0"/>
          </a:p>
        </p:txBody>
      </p:sp>
      <p:sp>
        <p:nvSpPr>
          <p:cNvPr id="15" name="Text 9"/>
          <p:cNvSpPr/>
          <p:nvPr/>
        </p:nvSpPr>
        <p:spPr>
          <a:xfrm>
            <a:off x="5188506" y="5615821"/>
            <a:ext cx="86481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PC for exploration, phone for queries</a:t>
            </a:r>
            <a:endParaRPr lang="en-US" sz="1750" dirty="0"/>
          </a:p>
        </p:txBody>
      </p:sp>
      <p:sp>
        <p:nvSpPr>
          <p:cNvPr id="16" name="Text 1"/>
          <p:cNvSpPr/>
          <p:nvPr/>
        </p:nvSpPr>
        <p:spPr>
          <a:xfrm>
            <a:off x="4373403" y="149218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Educational 3D game teaching SQL through detective gameplay</a:t>
            </a:r>
            <a:endParaRPr lang="en-US" sz="175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EC9E1874-F5F0-8589-12FB-85F8EE3C9336}"/>
              </a:ext>
            </a:extLst>
          </p:cNvPr>
          <p:cNvSpPr/>
          <p:nvPr/>
        </p:nvSpPr>
        <p:spPr>
          <a:xfrm>
            <a:off x="4352329" y="5259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95D84B-9559-59A3-1E77-1D2F43838110}"/>
              </a:ext>
            </a:extLst>
          </p:cNvPr>
          <p:cNvSpPr>
            <a:spLocks/>
          </p:cNvSpPr>
          <p:nvPr/>
        </p:nvSpPr>
        <p:spPr>
          <a:xfrm>
            <a:off x="12847899" y="7743464"/>
            <a:ext cx="1782501" cy="509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90001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6499"/>
            <a:ext cx="61875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Why SQL Detective Game?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678906"/>
            <a:ext cx="2152055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3294936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905720"/>
            <a:ext cx="28257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Fun learning experience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57217" y="3396139"/>
            <a:ext cx="28257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Games improve retention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187077" y="3998952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381" y="4042529"/>
            <a:ext cx="4304109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4496633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33304" y="4269343"/>
            <a:ext cx="24444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Practical SQL skills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33304" y="4759762"/>
            <a:ext cx="24444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Hands-on query building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6263164" y="5362575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5406152"/>
            <a:ext cx="6456164" cy="13069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773" y="5860256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9272" y="5632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Accessible to beginners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09272" y="6123384"/>
            <a:ext cx="32981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Gradual introduction to concepts</a:t>
            </a:r>
            <a:endParaRPr lang="en-US" sz="1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E9D32A-59A7-6326-66B3-68A703091B70}"/>
              </a:ext>
            </a:extLst>
          </p:cNvPr>
          <p:cNvSpPr>
            <a:spLocks/>
          </p:cNvSpPr>
          <p:nvPr/>
        </p:nvSpPr>
        <p:spPr>
          <a:xfrm>
            <a:off x="12847899" y="7720314"/>
            <a:ext cx="1782501" cy="509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Unique Approach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Other SQL Games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Mostly 2D or text-based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Limited interactivity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progress saving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SQL Detective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Immersive 3D environment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Cross-platform gameplay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Saves progress in cloud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21D54C-884D-CBC8-41A4-87AFE158A58A}"/>
              </a:ext>
            </a:extLst>
          </p:cNvPr>
          <p:cNvSpPr>
            <a:spLocks/>
          </p:cNvSpPr>
          <p:nvPr/>
        </p:nvSpPr>
        <p:spPr>
          <a:xfrm>
            <a:off x="12847899" y="7720314"/>
            <a:ext cx="1782501" cy="509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745" y="340757"/>
            <a:ext cx="3098363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Technical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171706" y="1900357"/>
            <a:ext cx="1549122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Unity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3745" y="2168247"/>
            <a:ext cx="4287083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3D environment and WebGL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685" y="975717"/>
            <a:ext cx="4816912" cy="481691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924" y="1888927"/>
            <a:ext cx="185380" cy="2316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09453" y="1900357"/>
            <a:ext cx="1549122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C# Programming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909453" y="2168247"/>
            <a:ext cx="4287203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Game logic and validation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685" y="975717"/>
            <a:ext cx="4816912" cy="481691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1670" y="2298859"/>
            <a:ext cx="185380" cy="2316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09453" y="4401741"/>
            <a:ext cx="1549122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SupaBase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9909453" y="4669631"/>
            <a:ext cx="4287203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SQL backend integration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6685" y="975717"/>
            <a:ext cx="4816912" cy="48169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91738" y="4647605"/>
            <a:ext cx="185380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3171706" y="4401741"/>
            <a:ext cx="1549122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Cloud Services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433745" y="4669631"/>
            <a:ext cx="4287083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Progress saving via GCP</a:t>
            </a:r>
            <a:endParaRPr lang="en-US" sz="9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6685" y="975717"/>
            <a:ext cx="4816912" cy="4816912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2992" y="4237673"/>
            <a:ext cx="185380" cy="23169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D46AFBC-F083-0DFA-E648-C85B327940C9}"/>
              </a:ext>
            </a:extLst>
          </p:cNvPr>
          <p:cNvSpPr>
            <a:spLocks/>
          </p:cNvSpPr>
          <p:nvPr/>
        </p:nvSpPr>
        <p:spPr>
          <a:xfrm>
            <a:off x="12847899" y="7720314"/>
            <a:ext cx="1782501" cy="509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DCB0AB-C27C-5FED-0FF2-67BB80CEC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273" y="1469985"/>
            <a:ext cx="9211854" cy="50052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9D0456-16E7-186F-0FA4-7D39822FC32B}"/>
              </a:ext>
            </a:extLst>
          </p:cNvPr>
          <p:cNvSpPr>
            <a:spLocks/>
          </p:cNvSpPr>
          <p:nvPr/>
        </p:nvSpPr>
        <p:spPr>
          <a:xfrm>
            <a:off x="12847899" y="7720314"/>
            <a:ext cx="1782501" cy="509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05867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Gameplay Progression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Detective’s Office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263473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Start the game and explore the world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3505200"/>
            <a:ext cx="29901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</a:rPr>
              <a:t>Crime Mystery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3995618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Find clues that lead to the criminal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Query Building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5356503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Build SQL queries, unlock new tables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268022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Advanced Levels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2268022" y="6717387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Complex queries across multiple tables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64241E-150D-6F4F-2CB4-1E4FA024CDF9}"/>
              </a:ext>
            </a:extLst>
          </p:cNvPr>
          <p:cNvSpPr>
            <a:spLocks/>
          </p:cNvSpPr>
          <p:nvPr/>
        </p:nvSpPr>
        <p:spPr>
          <a:xfrm>
            <a:off x="12847899" y="7720314"/>
            <a:ext cx="1782501" cy="509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2FD7A-8568-E7F8-D053-2A536DB0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1F8EA1-DE55-043A-0E1A-77855428AB57}"/>
              </a:ext>
            </a:extLst>
          </p:cNvPr>
          <p:cNvSpPr/>
          <p:nvPr/>
        </p:nvSpPr>
        <p:spPr>
          <a:xfrm>
            <a:off x="793730" y="38849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Query Interface</a:t>
            </a:r>
            <a:endParaRPr lang="en-US" sz="44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5CBCC5A-9585-AA44-8523-512CAF187F30}"/>
              </a:ext>
            </a:extLst>
          </p:cNvPr>
          <p:cNvSpPr/>
          <p:nvPr/>
        </p:nvSpPr>
        <p:spPr>
          <a:xfrm>
            <a:off x="793730" y="23178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PC View</a:t>
            </a: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98F7CA4-D050-DBF0-C3FB-A5F6A08A11F6}"/>
              </a:ext>
            </a:extLst>
          </p:cNvPr>
          <p:cNvSpPr/>
          <p:nvPr/>
        </p:nvSpPr>
        <p:spPr>
          <a:xfrm>
            <a:off x="793730" y="280826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Shows schema and environment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75AAFC-652E-D762-4B4A-B18C6E37A2E2}"/>
              </a:ext>
            </a:extLst>
          </p:cNvPr>
          <p:cNvSpPr>
            <a:spLocks/>
          </p:cNvSpPr>
          <p:nvPr/>
        </p:nvSpPr>
        <p:spPr>
          <a:xfrm>
            <a:off x="12847899" y="7720314"/>
            <a:ext cx="1782501" cy="509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892B68-3C4F-07EC-2EBC-CA8AC772D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362" y="1849120"/>
            <a:ext cx="9724400" cy="501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67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30" y="38849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Query Interface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793730" y="23178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Mobile Interface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93730" y="280826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Drag-and-drop query building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01B166-CD3B-5BD8-4474-EA5F64FF095E}"/>
              </a:ext>
            </a:extLst>
          </p:cNvPr>
          <p:cNvSpPr>
            <a:spLocks/>
          </p:cNvSpPr>
          <p:nvPr/>
        </p:nvSpPr>
        <p:spPr>
          <a:xfrm>
            <a:off x="12847899" y="7720314"/>
            <a:ext cx="1782501" cy="509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C0AFB42F-802C-3CE3-9702-3135085DAE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40" r="-1" b="3964"/>
          <a:stretch>
            <a:fillRect/>
          </a:stretch>
        </p:blipFill>
        <p:spPr>
          <a:xfrm>
            <a:off x="6464320" y="665073"/>
            <a:ext cx="4835903" cy="66779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1579-FC9C-77B9-9A36-80DAEB2F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6D340E-84BA-6A40-01A2-0B85A1655372}"/>
              </a:ext>
            </a:extLst>
          </p:cNvPr>
          <p:cNvSpPr/>
          <p:nvPr/>
        </p:nvSpPr>
        <p:spPr>
          <a:xfrm>
            <a:off x="793730" y="38849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Query Interface</a:t>
            </a:r>
            <a:endParaRPr lang="en-US" sz="44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367AE96-189C-6ECF-B18B-8268287090FE}"/>
              </a:ext>
            </a:extLst>
          </p:cNvPr>
          <p:cNvSpPr/>
          <p:nvPr/>
        </p:nvSpPr>
        <p:spPr>
          <a:xfrm>
            <a:off x="793730" y="23178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Results Display</a:t>
            </a: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DA2D2E1-6FAE-D1FB-2FA2-3E8F5D336B1A}"/>
              </a:ext>
            </a:extLst>
          </p:cNvPr>
          <p:cNvSpPr/>
          <p:nvPr/>
        </p:nvSpPr>
        <p:spPr>
          <a:xfrm>
            <a:off x="793730" y="280826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Query results on PC screen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B8CC94-997C-EEC1-7C41-57DE09558C74}"/>
              </a:ext>
            </a:extLst>
          </p:cNvPr>
          <p:cNvSpPr>
            <a:spLocks/>
          </p:cNvSpPr>
          <p:nvPr/>
        </p:nvSpPr>
        <p:spPr>
          <a:xfrm>
            <a:off x="12847899" y="7720314"/>
            <a:ext cx="1782501" cy="509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2D596C6F-FA84-7303-0E63-D60F28F0A4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52" r="2" b="2"/>
          <a:stretch>
            <a:fillRect/>
          </a:stretch>
        </p:blipFill>
        <p:spPr>
          <a:xfrm>
            <a:off x="6464320" y="665073"/>
            <a:ext cx="4732000" cy="672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6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7606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Get Started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505450"/>
            <a:ext cx="4120753" cy="226814"/>
          </a:xfrm>
          <a:prstGeom prst="roundRect">
            <a:avLst>
              <a:gd name="adj" fmla="val 1500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2"/>
          <p:cNvSpPr/>
          <p:nvPr/>
        </p:nvSpPr>
        <p:spPr>
          <a:xfrm>
            <a:off x="793790" y="60724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Clone Repository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562844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From GitHub: UnityFinalProject_Ofek_Ariel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54704" y="5165169"/>
            <a:ext cx="4120872" cy="226814"/>
          </a:xfrm>
          <a:prstGeom prst="roundRect">
            <a:avLst>
              <a:gd name="adj" fmla="val 1500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5254704" y="57321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Setup Unity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54704" y="6222563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Install Unity and WebGL modules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715738" y="4825008"/>
            <a:ext cx="4120872" cy="226814"/>
          </a:xfrm>
          <a:prstGeom prst="roundRect">
            <a:avLst>
              <a:gd name="adj" fmla="val 1500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8"/>
          <p:cNvSpPr/>
          <p:nvPr/>
        </p:nvSpPr>
        <p:spPr>
          <a:xfrm>
            <a:off x="9715738" y="5391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Connect Mobile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715738" y="5882402"/>
            <a:ext cx="41208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Connect your mobile to the game and play!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0820F5-F1CE-B4F9-EE3F-09E3E87BC049}"/>
              </a:ext>
            </a:extLst>
          </p:cNvPr>
          <p:cNvSpPr>
            <a:spLocks/>
          </p:cNvSpPr>
          <p:nvPr/>
        </p:nvSpPr>
        <p:spPr>
          <a:xfrm>
            <a:off x="12847899" y="7720314"/>
            <a:ext cx="1782501" cy="509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1751" y="683181"/>
            <a:ext cx="6622018" cy="827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Future Development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671751" y="1798796"/>
            <a:ext cx="7800499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Our roadmap to expand the SQL Detective Game with new features and opportunities.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87611" y="2321719"/>
            <a:ext cx="22860" cy="5224582"/>
          </a:xfrm>
          <a:prstGeom prst="roundRect">
            <a:avLst>
              <a:gd name="adj" fmla="val 12594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Shape 3"/>
          <p:cNvSpPr/>
          <p:nvPr/>
        </p:nvSpPr>
        <p:spPr>
          <a:xfrm>
            <a:off x="1080671" y="2526149"/>
            <a:ext cx="575786" cy="22860"/>
          </a:xfrm>
          <a:prstGeom prst="roundRect">
            <a:avLst>
              <a:gd name="adj" fmla="val 12594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4"/>
          <p:cNvSpPr/>
          <p:nvPr/>
        </p:nvSpPr>
        <p:spPr>
          <a:xfrm>
            <a:off x="671691" y="2321719"/>
            <a:ext cx="431840" cy="431840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05" y="2357676"/>
            <a:ext cx="287893" cy="3598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47374" y="2387679"/>
            <a:ext cx="2399228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Mobile App Launch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1847374" y="2802612"/>
            <a:ext cx="6624876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mobile interface with touch optimization for SQL query building on the go.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080671" y="3697962"/>
            <a:ext cx="575786" cy="22860"/>
          </a:xfrm>
          <a:prstGeom prst="roundRect">
            <a:avLst>
              <a:gd name="adj" fmla="val 12594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Shape 8"/>
          <p:cNvSpPr/>
          <p:nvPr/>
        </p:nvSpPr>
        <p:spPr>
          <a:xfrm>
            <a:off x="671691" y="3493532"/>
            <a:ext cx="431840" cy="431840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605" y="3529489"/>
            <a:ext cx="287893" cy="35980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47374" y="3559493"/>
            <a:ext cx="2399228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New Places and Cases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1847374" y="3974425"/>
            <a:ext cx="6624876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New crime scenarios introducing complex database concepts like subqueries and views.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1080671" y="5176838"/>
            <a:ext cx="575786" cy="22860"/>
          </a:xfrm>
          <a:prstGeom prst="roundRect">
            <a:avLst>
              <a:gd name="adj" fmla="val 12594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2"/>
          <p:cNvSpPr/>
          <p:nvPr/>
        </p:nvSpPr>
        <p:spPr>
          <a:xfrm>
            <a:off x="671691" y="4972407"/>
            <a:ext cx="431840" cy="431840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605" y="5008364"/>
            <a:ext cx="287893" cy="35980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47374" y="5038368"/>
            <a:ext cx="2399228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SQL Certification Path</a:t>
            </a:r>
            <a:endParaRPr lang="en-US" sz="1850" dirty="0"/>
          </a:p>
          <a:p>
            <a:pPr marL="0" indent="0" algn="l">
              <a:lnSpc>
                <a:spcPts val="2350"/>
              </a:lnSpc>
              <a:buNone/>
            </a:pP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1847374" y="5453301"/>
            <a:ext cx="6624876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Industry-recognized credentials earned through game completion and challenge mastery.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1080671" y="6655713"/>
            <a:ext cx="575786" cy="22860"/>
          </a:xfrm>
          <a:prstGeom prst="roundRect">
            <a:avLst>
              <a:gd name="adj" fmla="val 12594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Shape 16"/>
          <p:cNvSpPr/>
          <p:nvPr/>
        </p:nvSpPr>
        <p:spPr>
          <a:xfrm>
            <a:off x="671691" y="6451283"/>
            <a:ext cx="431840" cy="431840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605" y="6487239"/>
            <a:ext cx="287893" cy="35980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847374" y="6517243"/>
            <a:ext cx="2399228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850" dirty="0"/>
          </a:p>
        </p:txBody>
      </p:sp>
      <p:sp>
        <p:nvSpPr>
          <p:cNvPr id="25" name="Text 18"/>
          <p:cNvSpPr/>
          <p:nvPr/>
        </p:nvSpPr>
        <p:spPr>
          <a:xfrm>
            <a:off x="1847374" y="6932176"/>
            <a:ext cx="6624876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285</Words>
  <Application>Microsoft Office PowerPoint</Application>
  <PresentationFormat>Custom</PresentationFormat>
  <Paragraphs>82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Heebo Bold</vt:lpstr>
      <vt:lpstr>Crimson Pro Semi Bold</vt:lpstr>
      <vt:lpstr>Heebo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ofek cofman</cp:lastModifiedBy>
  <cp:revision>3</cp:revision>
  <dcterms:created xsi:type="dcterms:W3CDTF">2025-05-26T21:46:49Z</dcterms:created>
  <dcterms:modified xsi:type="dcterms:W3CDTF">2025-05-27T22:18:51Z</dcterms:modified>
</cp:coreProperties>
</file>